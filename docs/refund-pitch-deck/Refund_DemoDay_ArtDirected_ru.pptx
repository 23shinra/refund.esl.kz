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272784"/>
            <a:ext cx="9674352" cy="0"/>
          </a:xfrm>
          <a:prstGeom prst="line">
            <a:avLst/>
          </a:prstGeom>
          <a:noFill/>
          <a:ln w="15240">
            <a:solidFill>
              <a:srgbClr val="E2E9E6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6272784"/>
            <a:ext cx="1828800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331720" y="6208776"/>
            <a:ext cx="128016" cy="12801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Государственная поддержка есть.\nНайти её — проблема.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21208" y="2084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помощи сегодня — бюрократический лабиринт.</a:t>
            </a:r>
            <a:endParaRPr lang="en-US" sz="1300" dirty="0"/>
          </a:p>
        </p:txBody>
      </p:sp>
      <p:pic>
        <p:nvPicPr>
          <p:cNvPr id="10" name="Image 0" descr="/var/www/refund.esl.kz/docs/refund-pitch-deck/human-maze-f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450592"/>
            <a:ext cx="7452360" cy="3794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417320"/>
            <a:ext cx="3502152" cy="4370832"/>
          </a:xfrm>
          <a:prstGeom prst="roundRect">
            <a:avLst>
              <a:gd name="adj" fmla="val 6789"/>
            </a:avLst>
          </a:prstGeom>
          <a:solidFill>
            <a:srgbClr val="0D7A5F"/>
          </a:solidFill>
          <a:ln w="7620">
            <a:solidFill>
              <a:srgbClr val="0D7A5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B2A25">
                <a:alpha val="11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1783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BFE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49640" y="2212848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Один\nпонятный\nмаршрут.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8577072" y="400507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77072" y="4009644"/>
            <a:ext cx="173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2" dirty="0"/>
          </a:p>
        </p:txBody>
      </p:sp>
      <p:sp>
        <p:nvSpPr>
          <p:cNvPr id="16" name="Text 13"/>
          <p:cNvSpPr/>
          <p:nvPr/>
        </p:nvSpPr>
        <p:spPr>
          <a:xfrm>
            <a:off x="8887968" y="39959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577072" y="4352544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77072" y="4357116"/>
            <a:ext cx="173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2" dirty="0"/>
          </a:p>
        </p:txBody>
      </p:sp>
      <p:sp>
        <p:nvSpPr>
          <p:cNvPr id="19" name="Text 16"/>
          <p:cNvSpPr/>
          <p:nvPr/>
        </p:nvSpPr>
        <p:spPr>
          <a:xfrm>
            <a:off x="8887968" y="4343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77072" y="4700016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77072" y="4704588"/>
            <a:ext cx="173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2" dirty="0"/>
          </a:p>
        </p:txBody>
      </p:sp>
      <p:sp>
        <p:nvSpPr>
          <p:cNvPr id="22" name="Text 19"/>
          <p:cNvSpPr/>
          <p:nvPr/>
        </p:nvSpPr>
        <p:spPr>
          <a:xfrm>
            <a:off x="8887968" y="46908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Оформить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577072" y="5047488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7072" y="5052060"/>
            <a:ext cx="173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22" dirty="0"/>
          </a:p>
        </p:txBody>
      </p:sp>
      <p:sp>
        <p:nvSpPr>
          <p:cNvPr id="25" name="Text 22"/>
          <p:cNvSpPr/>
          <p:nvPr/>
        </p:nvSpPr>
        <p:spPr>
          <a:xfrm>
            <a:off x="8887968" y="50383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49640" y="546811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CBE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поиска между Google, законами\nи очередями в ЦОН.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272784"/>
            <a:ext cx="9674352" cy="0"/>
          </a:xfrm>
          <a:prstGeom prst="line">
            <a:avLst/>
          </a:prstGeom>
          <a:noFill/>
          <a:ln w="15240">
            <a:solidFill>
              <a:srgbClr val="E2E9E6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6272784"/>
            <a:ext cx="3657600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160520" y="6208776"/>
            <a:ext cx="128016" cy="12801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вопрос.\nГотовый план действий.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530352" y="21488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меня родился ребёнок»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0352" y="2670048"/>
            <a:ext cx="2880360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3154680"/>
            <a:ext cx="3154680" cy="548640"/>
          </a:xfrm>
          <a:prstGeom prst="roundRect">
            <a:avLst>
              <a:gd name="adj" fmla="val 21667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3009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325526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Подбирает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85416" y="325526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меры поддержки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867912"/>
            <a:ext cx="3154680" cy="548640"/>
          </a:xfrm>
          <a:prstGeom prst="roundRect">
            <a:avLst>
              <a:gd name="adj" fmla="val 21667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0142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8872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85416" y="3968496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и документы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81144"/>
            <a:ext cx="3154680" cy="548640"/>
          </a:xfrm>
          <a:prstGeom prst="roundRect">
            <a:avLst>
              <a:gd name="adj" fmla="val 21667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72744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88720" y="468172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Подключает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85416" y="468172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411480"/>
            <a:ext cx="3977640" cy="6089904"/>
          </a:xfrm>
          <a:prstGeom prst="roundRect">
            <a:avLst>
              <a:gd name="adj" fmla="val 10575"/>
            </a:avLst>
          </a:prstGeom>
          <a:solidFill>
            <a:srgbClr val="0A201A"/>
          </a:solidFill>
          <a:ln w="7620">
            <a:solidFill>
              <a:srgbClr val="0A201A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50800" dir="2700000">
              <a:srgbClr val="0A201A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22592" y="640080"/>
            <a:ext cx="3557016" cy="5623560"/>
          </a:xfrm>
          <a:prstGeom prst="roundRect">
            <a:avLst>
              <a:gd name="adj" fmla="val 8740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768096"/>
            <a:ext cx="1426464" cy="118872"/>
          </a:xfrm>
          <a:prstGeom prst="roundRect">
            <a:avLst>
              <a:gd name="adj" fmla="val 61538"/>
            </a:avLst>
          </a:prstGeom>
          <a:solidFill>
            <a:srgbClr val="0A201A"/>
          </a:solidFill>
          <a:ln w="7620">
            <a:solidFill>
              <a:srgbClr val="0A201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8352" y="1170432"/>
            <a:ext cx="137160" cy="13716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6096" y="11064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88352" y="160934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Подобрано для вас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88352" y="2057400"/>
            <a:ext cx="2816352" cy="804672"/>
          </a:xfrm>
          <a:prstGeom prst="roundRect">
            <a:avLst>
              <a:gd name="adj" fmla="val 18182"/>
            </a:avLst>
          </a:prstGeom>
          <a:solidFill>
            <a:srgbClr val="E7F4EF"/>
          </a:solidFill>
          <a:ln w="7620">
            <a:solidFill>
              <a:srgbClr val="E7F4E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71232" y="2286000"/>
            <a:ext cx="237744" cy="237744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229057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88" dirty="0"/>
          </a:p>
        </p:txBody>
      </p:sp>
      <p:sp>
        <p:nvSpPr>
          <p:cNvPr id="32" name="Text 30"/>
          <p:cNvSpPr/>
          <p:nvPr/>
        </p:nvSpPr>
        <p:spPr>
          <a:xfrm>
            <a:off x="7973568" y="215798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Вам доступны 3 меры\nподдержки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88352" y="3127248"/>
            <a:ext cx="2816352" cy="521208"/>
          </a:xfrm>
          <a:prstGeom prst="roundRect">
            <a:avLst>
              <a:gd name="adj" fmla="val 21053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52944" y="320954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Пособие до 3 лет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52944" y="338328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Пошаговый план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9857232" y="32552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7388352" y="3785616"/>
            <a:ext cx="2816352" cy="521208"/>
          </a:xfrm>
          <a:prstGeom prst="roundRect">
            <a:avLst>
              <a:gd name="adj" fmla="val 21053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386791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52944" y="40416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из 5 готовы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9857232" y="391363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7388352" y="4443984"/>
            <a:ext cx="2816352" cy="521208"/>
          </a:xfrm>
          <a:prstGeom prst="roundRect">
            <a:avLst>
              <a:gd name="adj" fmla="val 21053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52944" y="4526280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специалиста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552944" y="470001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Подключить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9857232" y="4572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7388352" y="5285232"/>
            <a:ext cx="2816352" cy="530352"/>
          </a:xfrm>
          <a:prstGeom prst="roundRect">
            <a:avLst>
              <a:gd name="adj" fmla="val 22414"/>
            </a:avLst>
          </a:prstGeom>
          <a:solidFill>
            <a:srgbClr val="0D7A5F"/>
          </a:solidFill>
          <a:ln w="7620">
            <a:solidFill>
              <a:srgbClr val="0D7A5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88352" y="5422392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помощь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059168" y="640080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Работающий интерфейс Refund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272784"/>
            <a:ext cx="9674352" cy="0"/>
          </a:xfrm>
          <a:prstGeom prst="line">
            <a:avLst/>
          </a:prstGeom>
          <a:noFill/>
          <a:ln w="15240">
            <a:solidFill>
              <a:srgbClr val="E2E9E6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6272784"/>
            <a:ext cx="5486400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89320" y="6208776"/>
            <a:ext cx="128016" cy="12801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соединяет спрос,\nэкспертизу и государство.</a:t>
            </a:r>
            <a:endParaRPr lang="en-US" sz="2900" dirty="0"/>
          </a:p>
        </p:txBody>
      </p:sp>
      <p:pic>
        <p:nvPicPr>
          <p:cNvPr id="9" name="Image 0" descr="/var/www/refund.esl.kz/docs/refund-pitch-deck/eco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14600" y="1700784"/>
            <a:ext cx="7223760" cy="4526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2788920"/>
            <a:ext cx="2103120" cy="1005840"/>
          </a:xfrm>
          <a:prstGeom prst="roundRect">
            <a:avLst>
              <a:gd name="adj" fmla="val 1545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" y="32735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бесплатно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2633472" y="3273552"/>
            <a:ext cx="1024128" cy="45720"/>
          </a:xfrm>
          <a:prstGeom prst="line">
            <a:avLst/>
          </a:prstGeom>
          <a:noFill/>
          <a:ln w="1651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601200" y="2788920"/>
            <a:ext cx="2084832" cy="1005840"/>
          </a:xfrm>
          <a:prstGeom prst="roundRect">
            <a:avLst>
              <a:gd name="adj" fmla="val 1545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57232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57232" y="32735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обращения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8641080" y="3273552"/>
            <a:ext cx="932688" cy="45720"/>
          </a:xfrm>
          <a:prstGeom prst="line">
            <a:avLst/>
          </a:prstGeom>
          <a:noFill/>
          <a:ln w="16510">
            <a:solidFill>
              <a:srgbClr val="0D7A5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956048" y="5394960"/>
            <a:ext cx="2240280" cy="640080"/>
          </a:xfrm>
          <a:prstGeom prst="roundRect">
            <a:avLst>
              <a:gd name="adj" fmla="val 21429"/>
            </a:avLst>
          </a:prstGeom>
          <a:solidFill>
            <a:srgbClr val="0D7A5F"/>
          </a:solidFill>
          <a:ln w="7620">
            <a:solidFill>
              <a:srgbClr val="0D7A5F">
                <a:alpha val="0"/>
              </a:srgbClr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1B2A25">
                <a:alpha val="110000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56048" y="558698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Подписка 9 990 ₸ / месяц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1874520" y="6318504"/>
            <a:ext cx="8458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→ заявка → партнёр → выручка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272784"/>
            <a:ext cx="9674352" cy="0"/>
          </a:xfrm>
          <a:prstGeom prst="line">
            <a:avLst/>
          </a:prstGeom>
          <a:noFill/>
          <a:ln w="15240">
            <a:solidFill>
              <a:srgbClr val="E2E9E6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6272784"/>
            <a:ext cx="7315200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818120" y="6208776"/>
            <a:ext cx="128016" cy="12801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готов\nк новой точке входа.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2953512" cy="1005840"/>
          </a:xfrm>
          <a:prstGeom prst="roundRect">
            <a:avLst>
              <a:gd name="adj" fmla="val 20000"/>
            </a:avLst>
          </a:prstGeom>
          <a:solidFill>
            <a:srgbClr val="0D7A5F"/>
          </a:solidFill>
          <a:ln w="7620">
            <a:solidFill>
              <a:srgbClr val="0D7A5F">
                <a:alpha val="0"/>
              </a:srgbClr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1B2A25">
                <a:alpha val="1100000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01184" y="12984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млн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828032" y="1645920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C3E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подтверждённые данные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5349240" cy="155448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980944"/>
            <a:ext cx="502920" cy="5029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0540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▱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Государство\nцифровизируется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6941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уже переходит онлайн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336792" y="2670048"/>
            <a:ext cx="5349240" cy="1554480"/>
          </a:xfrm>
          <a:prstGeom prst="roundRect">
            <a:avLst>
              <a:gd name="adj" fmla="val 11765"/>
            </a:avLst>
          </a:prstGeom>
          <a:solidFill>
            <a:srgbClr val="E7F4EF"/>
          </a:solidFill>
          <a:ln w="7620">
            <a:solidFill>
              <a:srgbClr val="E7F4E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29400" y="2980944"/>
            <a:ext cx="502920" cy="5029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0540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388352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делает подбор\nперсональным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88352" y="36941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теперь возможно в масштабе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02920" y="4572000"/>
            <a:ext cx="5349240" cy="155448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882896"/>
            <a:ext cx="502920" cy="5029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9560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554480" y="4828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Программ\nстановится больше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54480" y="55961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 растёт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336792" y="4572000"/>
            <a:ext cx="5349240" cy="155448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4882896"/>
            <a:ext cx="502920" cy="5029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E2E9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9560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388352" y="4828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хотят ответы\nмгновенно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388352" y="559612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 нового стандарта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09728" cy="109728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6272784"/>
            <a:ext cx="9674352" cy="0"/>
          </a:xfrm>
          <a:prstGeom prst="line">
            <a:avLst/>
          </a:prstGeom>
          <a:noFill/>
          <a:ln w="15240">
            <a:solidFill>
              <a:srgbClr val="E2E9E6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502920" y="6272784"/>
            <a:ext cx="9144000" cy="0"/>
          </a:xfrm>
          <a:prstGeom prst="line">
            <a:avLst/>
          </a:prstGeom>
          <a:noFill/>
          <a:ln w="17780">
            <a:solidFill>
              <a:srgbClr val="0D7A5F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646920" y="6208776"/>
            <a:ext cx="128016" cy="12801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25328" y="64556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8B2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750" dirty="0"/>
          </a:p>
        </p:txBody>
      </p:sp>
      <p:pic>
        <p:nvPicPr>
          <p:cNvPr id="8" name="Image 0" descr="/var/www/refund.esl.kz/docs/refund-pitch-deck/infrastructure-f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96128" y="310896"/>
            <a:ext cx="6309360" cy="5760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640080"/>
            <a:ext cx="5806440" cy="5285232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762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914400"/>
            <a:ext cx="51206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цифровая\nточка входа\nк государству.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12064" y="27889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Хотим, чтобы любое взаимодействие\nчеловека с государством начиналось с Refund.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02920" y="3867912"/>
            <a:ext cx="3977640" cy="0"/>
          </a:xfrm>
          <a:prstGeom prst="line">
            <a:avLst/>
          </a:prstGeom>
          <a:noFill/>
          <a:ln w="25400">
            <a:solidFill>
              <a:srgbClr val="0D7A5F"/>
            </a:solidFill>
            <a:prstDash val="solid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521208" y="4169664"/>
            <a:ext cx="182880" cy="18288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41742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841248" y="41605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готов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1208" y="4572000"/>
            <a:ext cx="182880" cy="18288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" y="45765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841248" y="45628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уже работает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1208" y="4974336"/>
            <a:ext cx="182880" cy="182880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" y="49789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841248" y="496519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этап — масштабирование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73952" y="144475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9E6"/>
            </a:solidFill>
            <a:prstDash val="solid"/>
          </a:ln>
          <a:effectLst>
            <a:outerShdw sx="100000" sy="100000" kx="0" ky="0" algn="bl" rotWithShape="0" blurRad="12700" dist="50800" dir="2700000">
              <a:srgbClr val="1B2A25">
                <a:alpha val="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73952" y="149961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Жильё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723376" y="8686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9E6"/>
            </a:solidFill>
            <a:prstDash val="solid"/>
          </a:ln>
          <a:effectLst>
            <a:outerShdw sx="100000" sy="100000" kx="0" ky="0" algn="bl" rotWithShape="0" blurRad="12700" dist="50800" dir="2700000">
              <a:srgbClr val="1B2A25">
                <a:alpha val="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723376" y="92354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Дети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10533888" y="168249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9E6"/>
            </a:solidFill>
            <a:prstDash val="solid"/>
          </a:ln>
          <a:effectLst>
            <a:outerShdw sx="100000" sy="100000" kx="0" ky="0" algn="bl" rotWithShape="0" blurRad="12700" dist="50800" dir="2700000">
              <a:srgbClr val="1B2A25">
                <a:alpha val="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0533888" y="17373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Медицина</a:t>
            </a:r>
            <a:endParaRPr lang="en-US" sz="730" dirty="0"/>
          </a:p>
        </p:txBody>
      </p:sp>
      <p:sp>
        <p:nvSpPr>
          <p:cNvPr id="28" name="Shape 25"/>
          <p:cNvSpPr/>
          <p:nvPr/>
        </p:nvSpPr>
        <p:spPr>
          <a:xfrm>
            <a:off x="10469880" y="42245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9E6"/>
            </a:solidFill>
            <a:prstDash val="solid"/>
          </a:ln>
          <a:effectLst>
            <a:outerShdw sx="100000" sy="100000" kx="0" ky="0" algn="bl" rotWithShape="0" blurRad="12700" dist="50800" dir="2700000">
              <a:srgbClr val="1B2A25">
                <a:alpha val="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0469880" y="42793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</a:t>
            </a:r>
            <a:endParaRPr lang="en-US" sz="730" dirty="0"/>
          </a:p>
        </p:txBody>
      </p:sp>
      <p:sp>
        <p:nvSpPr>
          <p:cNvPr id="30" name="Shape 27"/>
          <p:cNvSpPr/>
          <p:nvPr/>
        </p:nvSpPr>
        <p:spPr>
          <a:xfrm>
            <a:off x="8732520" y="495604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9E6"/>
            </a:solidFill>
            <a:prstDash val="solid"/>
          </a:ln>
          <a:effectLst>
            <a:outerShdw sx="100000" sy="100000" kx="0" ky="0" algn="bl" rotWithShape="0" blurRad="12700" dist="50800" dir="2700000">
              <a:srgbClr val="1B2A25">
                <a:alpha val="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732520" y="501091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Выплаты</a:t>
            </a:r>
            <a:endParaRPr lang="en-US" sz="730" dirty="0"/>
          </a:p>
        </p:txBody>
      </p:sp>
      <p:sp>
        <p:nvSpPr>
          <p:cNvPr id="32" name="Shape 29"/>
          <p:cNvSpPr/>
          <p:nvPr/>
        </p:nvSpPr>
        <p:spPr>
          <a:xfrm>
            <a:off x="6601968" y="444398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9E6"/>
            </a:solidFill>
            <a:prstDash val="solid"/>
          </a:ln>
          <a:effectLst>
            <a:outerShdw sx="100000" sy="100000" kx="0" ky="0" algn="bl" rotWithShape="0" blurRad="12700" dist="50800" dir="2700000">
              <a:srgbClr val="1B2A25">
                <a:alpha val="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601968" y="449884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Налоги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6080760" y="285292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9E6"/>
            </a:solidFill>
            <a:prstDash val="solid"/>
          </a:ln>
          <a:effectLst>
            <a:outerShdw sx="100000" sy="100000" kx="0" ky="0" algn="bl" rotWithShape="0" blurRad="12700" dist="50800" dir="2700000">
              <a:srgbClr val="1B2A25">
                <a:alpha val="6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080760" y="29077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Лицензии</a:t>
            </a:r>
            <a:endParaRPr lang="en-US" sz="730" dirty="0"/>
          </a:p>
        </p:txBody>
      </p:sp>
      <p:sp>
        <p:nvSpPr>
          <p:cNvPr id="36" name="Shape 33"/>
          <p:cNvSpPr/>
          <p:nvPr/>
        </p:nvSpPr>
        <p:spPr>
          <a:xfrm>
            <a:off x="502920" y="5650992"/>
            <a:ext cx="128016" cy="128016"/>
          </a:xfrm>
          <a:prstGeom prst="ellipse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3232" y="55961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02920" y="59618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refund.esl.kz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050792" y="5248656"/>
            <a:ext cx="932688" cy="932688"/>
          </a:xfrm>
          <a:prstGeom prst="roundRect">
            <a:avLst>
              <a:gd name="adj" fmla="val 10784"/>
            </a:avLst>
          </a:prstGeom>
          <a:solidFill>
            <a:srgbClr val="F4F6F5"/>
          </a:solidFill>
          <a:ln w="7620">
            <a:solidFill>
              <a:srgbClr val="F4F6F5">
                <a:alpha val="0"/>
              </a:srgbClr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340096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Refund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Refund — Demo Day</dc:title>
  <dc:subject>Инвесторская презентация</dc:subject>
  <dc:creator>Refund</dc:creator>
  <cp:lastModifiedBy>Refund</cp:lastModifiedBy>
  <cp:revision>1</cp:revision>
  <dcterms:created xsi:type="dcterms:W3CDTF">2026-07-20T06:57:28Z</dcterms:created>
  <dcterms:modified xsi:type="dcterms:W3CDTF">2026-07-20T06:57:28Z</dcterms:modified>
</cp:coreProperties>
</file>