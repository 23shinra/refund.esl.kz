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09728" cy="10972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25328" y="645566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8B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6492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Государственная поддержка есть.\nНайти её — проблема.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21208" y="20848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к помощи сегодня — бюрократический лабиринт.</a:t>
            </a:r>
            <a:endParaRPr lang="en-US" sz="1300" dirty="0"/>
          </a:p>
        </p:txBody>
      </p:sp>
      <p:pic>
        <p:nvPicPr>
          <p:cNvPr id="7" name="Image 0" descr="/var/www/refund.esl.kz/docs/refund-pitch-deck/bureaucracy-maz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2450592"/>
            <a:ext cx="7452360" cy="3794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183880" y="1417320"/>
            <a:ext cx="3502152" cy="4370832"/>
          </a:xfrm>
          <a:prstGeom prst="roundRect">
            <a:avLst>
              <a:gd name="adj" fmla="val 6789"/>
            </a:avLst>
          </a:prstGeom>
          <a:solidFill>
            <a:srgbClr val="0D7A5F"/>
          </a:solidFill>
          <a:ln w="7620">
            <a:solidFill>
              <a:srgbClr val="0D7A5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1B2A25">
                <a:alpha val="11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549640" y="17830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BFE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549640" y="2212848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Один\nпонятный\nмаршрут.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8577072" y="4005072"/>
            <a:ext cx="173736" cy="173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77072" y="4009644"/>
            <a:ext cx="173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22" dirty="0"/>
          </a:p>
        </p:txBody>
      </p:sp>
      <p:sp>
        <p:nvSpPr>
          <p:cNvPr id="13" name="Text 10"/>
          <p:cNvSpPr/>
          <p:nvPr/>
        </p:nvSpPr>
        <p:spPr>
          <a:xfrm>
            <a:off x="8887968" y="399592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577072" y="4352544"/>
            <a:ext cx="173736" cy="173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77072" y="4357116"/>
            <a:ext cx="173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22" dirty="0"/>
          </a:p>
        </p:txBody>
      </p:sp>
      <p:sp>
        <p:nvSpPr>
          <p:cNvPr id="16" name="Text 13"/>
          <p:cNvSpPr/>
          <p:nvPr/>
        </p:nvSpPr>
        <p:spPr>
          <a:xfrm>
            <a:off x="8887968" y="43434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Понять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577072" y="4700016"/>
            <a:ext cx="173736" cy="173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77072" y="4704588"/>
            <a:ext cx="173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22" dirty="0"/>
          </a:p>
        </p:txBody>
      </p:sp>
      <p:sp>
        <p:nvSpPr>
          <p:cNvPr id="19" name="Text 16"/>
          <p:cNvSpPr/>
          <p:nvPr/>
        </p:nvSpPr>
        <p:spPr>
          <a:xfrm>
            <a:off x="8887968" y="469087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Оформить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577072" y="5047488"/>
            <a:ext cx="173736" cy="173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77072" y="5052060"/>
            <a:ext cx="173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22" dirty="0"/>
          </a:p>
        </p:txBody>
      </p:sp>
      <p:sp>
        <p:nvSpPr>
          <p:cNvPr id="22" name="Text 19"/>
          <p:cNvSpPr/>
          <p:nvPr/>
        </p:nvSpPr>
        <p:spPr>
          <a:xfrm>
            <a:off x="8887968" y="503834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Получить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549640" y="5468112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E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поиска между Google, законами\nи очередями в ЦОН.</a:t>
            </a:r>
            <a:endParaRPr lang="en-US" sz="9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09728" cy="10972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25328" y="645566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8B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A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вопрос.\nГотовый план действий.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30352" y="214884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«У меня родился ребёнок»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30352" y="2670048"/>
            <a:ext cx="2880360" cy="0"/>
          </a:xfrm>
          <a:prstGeom prst="line">
            <a:avLst/>
          </a:prstGeom>
          <a:noFill/>
          <a:ln w="17780">
            <a:solidFill>
              <a:srgbClr val="0D7A5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02920" y="3154680"/>
            <a:ext cx="3154680" cy="548640"/>
          </a:xfrm>
          <a:prstGeom prst="roundRect">
            <a:avLst>
              <a:gd name="adj" fmla="val 21667"/>
            </a:avLst>
          </a:prstGeom>
          <a:solidFill>
            <a:srgbClr val="F4F6F5"/>
          </a:solidFill>
          <a:ln w="7620">
            <a:solidFill>
              <a:srgbClr val="F4F6F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330098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88720" y="325526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Подбирает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185416" y="3255264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меры поддержки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867912"/>
            <a:ext cx="3154680" cy="548640"/>
          </a:xfrm>
          <a:prstGeom prst="roundRect">
            <a:avLst>
              <a:gd name="adj" fmla="val 21667"/>
            </a:avLst>
          </a:prstGeom>
          <a:solidFill>
            <a:srgbClr val="F4F6F5"/>
          </a:solidFill>
          <a:ln w="7620">
            <a:solidFill>
              <a:srgbClr val="F4F6F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40142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88720" y="396849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Показывает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185416" y="3968496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и документы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581144"/>
            <a:ext cx="3154680" cy="548640"/>
          </a:xfrm>
          <a:prstGeom prst="roundRect">
            <a:avLst>
              <a:gd name="adj" fmla="val 21667"/>
            </a:avLst>
          </a:prstGeom>
          <a:solidFill>
            <a:srgbClr val="F4F6F5"/>
          </a:solidFill>
          <a:ln w="7620">
            <a:solidFill>
              <a:srgbClr val="F4F6F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72744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88720" y="468172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Подключает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185416" y="4681728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специалиста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12280" y="411480"/>
            <a:ext cx="3977640" cy="6089904"/>
          </a:xfrm>
          <a:prstGeom prst="roundRect">
            <a:avLst>
              <a:gd name="adj" fmla="val 10575"/>
            </a:avLst>
          </a:prstGeom>
          <a:solidFill>
            <a:srgbClr val="0A201A"/>
          </a:solidFill>
          <a:ln w="7620">
            <a:solidFill>
              <a:srgbClr val="0A201A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50800" dir="2700000">
              <a:srgbClr val="0A201A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22592" y="640080"/>
            <a:ext cx="3557016" cy="5623560"/>
          </a:xfrm>
          <a:prstGeom prst="roundRect">
            <a:avLst>
              <a:gd name="adj" fmla="val 8740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2440" y="768096"/>
            <a:ext cx="1426464" cy="118872"/>
          </a:xfrm>
          <a:prstGeom prst="roundRect">
            <a:avLst>
              <a:gd name="adj" fmla="val 61538"/>
            </a:avLst>
          </a:prstGeom>
          <a:solidFill>
            <a:srgbClr val="0A201A"/>
          </a:solidFill>
          <a:ln w="7620">
            <a:solidFill>
              <a:srgbClr val="0A201A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88352" y="1170432"/>
            <a:ext cx="137160" cy="137160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6096" y="11064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88352" y="1609344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Подобрано для вас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88352" y="2057400"/>
            <a:ext cx="2816352" cy="804672"/>
          </a:xfrm>
          <a:prstGeom prst="roundRect">
            <a:avLst>
              <a:gd name="adj" fmla="val 18182"/>
            </a:avLst>
          </a:prstGeom>
          <a:solidFill>
            <a:srgbClr val="E7F4EF"/>
          </a:solidFill>
          <a:ln w="7620">
            <a:solidFill>
              <a:srgbClr val="E7F4E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71232" y="2286000"/>
            <a:ext cx="237744" cy="237744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71232" y="229057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88" dirty="0"/>
          </a:p>
        </p:txBody>
      </p:sp>
      <p:sp>
        <p:nvSpPr>
          <p:cNvPr id="29" name="Text 27"/>
          <p:cNvSpPr/>
          <p:nvPr/>
        </p:nvSpPr>
        <p:spPr>
          <a:xfrm>
            <a:off x="7973568" y="2157984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Вам доступны 3 меры\nподдержки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388352" y="3127248"/>
            <a:ext cx="2816352" cy="521208"/>
          </a:xfrm>
          <a:prstGeom prst="roundRect">
            <a:avLst>
              <a:gd name="adj" fmla="val 21053"/>
            </a:avLst>
          </a:prstGeom>
          <a:solidFill>
            <a:srgbClr val="F4F6F5"/>
          </a:solidFill>
          <a:ln w="7620">
            <a:solidFill>
              <a:srgbClr val="F4F6F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52944" y="3209544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3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Пособие до 3 лет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552944" y="338328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Пошаговый план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9857232" y="325526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7388352" y="3785616"/>
            <a:ext cx="2816352" cy="521208"/>
          </a:xfrm>
          <a:prstGeom prst="roundRect">
            <a:avLst>
              <a:gd name="adj" fmla="val 21053"/>
            </a:avLst>
          </a:prstGeom>
          <a:solidFill>
            <a:srgbClr val="F4F6F5"/>
          </a:solidFill>
          <a:ln w="7620">
            <a:solidFill>
              <a:srgbClr val="F4F6F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52944" y="3867912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3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552944" y="40416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из 5 готовы</a:t>
            </a:r>
            <a:endParaRPr lang="en-US" sz="860" dirty="0"/>
          </a:p>
        </p:txBody>
      </p:sp>
      <p:sp>
        <p:nvSpPr>
          <p:cNvPr id="37" name="Text 35"/>
          <p:cNvSpPr/>
          <p:nvPr/>
        </p:nvSpPr>
        <p:spPr>
          <a:xfrm>
            <a:off x="9857232" y="391363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7388352" y="4443984"/>
            <a:ext cx="2816352" cy="521208"/>
          </a:xfrm>
          <a:prstGeom prst="roundRect">
            <a:avLst>
              <a:gd name="adj" fmla="val 21053"/>
            </a:avLst>
          </a:prstGeom>
          <a:solidFill>
            <a:srgbClr val="F4F6F5"/>
          </a:solidFill>
          <a:ln w="7620">
            <a:solidFill>
              <a:srgbClr val="F4F6F5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52944" y="4526280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3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Помощь специалиста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552944" y="470001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Подключить</a:t>
            </a:r>
            <a:endParaRPr lang="en-US" sz="860" dirty="0"/>
          </a:p>
        </p:txBody>
      </p:sp>
      <p:sp>
        <p:nvSpPr>
          <p:cNvPr id="41" name="Text 39"/>
          <p:cNvSpPr/>
          <p:nvPr/>
        </p:nvSpPr>
        <p:spPr>
          <a:xfrm>
            <a:off x="9857232" y="457200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7388352" y="5285232"/>
            <a:ext cx="2816352" cy="530352"/>
          </a:xfrm>
          <a:prstGeom prst="roundRect">
            <a:avLst>
              <a:gd name="adj" fmla="val 22414"/>
            </a:avLst>
          </a:prstGeom>
          <a:solidFill>
            <a:srgbClr val="0D7A5F"/>
          </a:solidFill>
          <a:ln w="7620">
            <a:solidFill>
              <a:srgbClr val="0D7A5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88352" y="5422392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Получить помощь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059168" y="640080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8B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Работающий интерфейс Refund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09728" cy="10972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25328" y="645566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8B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соединяет спрос,\nэкспертизу и государство.</a:t>
            </a:r>
            <a:endParaRPr lang="en-US" sz="2900" dirty="0"/>
          </a:p>
        </p:txBody>
      </p:sp>
      <p:pic>
        <p:nvPicPr>
          <p:cNvPr id="6" name="Image 0" descr="/var/www/refund.esl.kz/docs/refund-pitch-deck/ecosyst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14600" y="1700784"/>
            <a:ext cx="722376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2788920"/>
            <a:ext cx="2103120" cy="1005840"/>
          </a:xfrm>
          <a:prstGeom prst="roundRect">
            <a:avLst>
              <a:gd name="adj" fmla="val 15455"/>
            </a:avLst>
          </a:prstGeom>
          <a:solidFill>
            <a:srgbClr val="F4F6F5"/>
          </a:solidFill>
          <a:ln w="7620">
            <a:solidFill>
              <a:srgbClr val="F4F6F5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3017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3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9808" y="32735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информация бесплатно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2633472" y="3273552"/>
            <a:ext cx="1024128" cy="45720"/>
          </a:xfrm>
          <a:prstGeom prst="line">
            <a:avLst/>
          </a:prstGeom>
          <a:noFill/>
          <a:ln w="16510">
            <a:solidFill>
              <a:srgbClr val="0D7A5F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9601200" y="2788920"/>
            <a:ext cx="2084832" cy="1005840"/>
          </a:xfrm>
          <a:prstGeom prst="roundRect">
            <a:avLst>
              <a:gd name="adj" fmla="val 15455"/>
            </a:avLst>
          </a:prstGeom>
          <a:solidFill>
            <a:srgbClr val="F4F6F5"/>
          </a:solidFill>
          <a:ln w="7620">
            <a:solidFill>
              <a:srgbClr val="F4F6F5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57232" y="3017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3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857232" y="32735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готовые обращения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8641080" y="3273552"/>
            <a:ext cx="932688" cy="45720"/>
          </a:xfrm>
          <a:prstGeom prst="line">
            <a:avLst/>
          </a:prstGeom>
          <a:noFill/>
          <a:ln w="16510">
            <a:solidFill>
              <a:srgbClr val="0D7A5F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956048" y="5394960"/>
            <a:ext cx="2240280" cy="640080"/>
          </a:xfrm>
          <a:prstGeom prst="roundRect">
            <a:avLst>
              <a:gd name="adj" fmla="val 21429"/>
            </a:avLst>
          </a:prstGeom>
          <a:solidFill>
            <a:srgbClr val="0D7A5F"/>
          </a:solidFill>
          <a:ln w="7620">
            <a:solidFill>
              <a:srgbClr val="0D7A5F">
                <a:alpha val="0"/>
              </a:srgbClr>
            </a:solidFill>
            <a:prstDash val="solid"/>
          </a:ln>
          <a:effectLst>
            <a:outerShdw sx="100000" sy="100000" kx="0" ky="0" algn="bl" rotWithShape="0" blurRad="322580000" dist="645160000" dir="162000000000">
              <a:srgbClr val="1B2A25">
                <a:alpha val="110000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956048" y="558698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Подписка 9 990 ₸ / месяц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1874520" y="6318504"/>
            <a:ext cx="8458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→ заявка → партнёр → выручка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09728" cy="10972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25328" y="645566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8B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A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 готов\nк новой точке входа.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4617720" y="1078992"/>
            <a:ext cx="2953512" cy="1005840"/>
          </a:xfrm>
          <a:prstGeom prst="roundRect">
            <a:avLst>
              <a:gd name="adj" fmla="val 20000"/>
            </a:avLst>
          </a:prstGeom>
          <a:solidFill>
            <a:srgbClr val="0D7A5F"/>
          </a:solidFill>
          <a:ln w="7620">
            <a:solidFill>
              <a:srgbClr val="0D7A5F">
                <a:alpha val="0"/>
              </a:srgbClr>
            </a:solidFill>
            <a:prstDash val="solid"/>
          </a:ln>
          <a:effectLst>
            <a:outerShdw sx="100000" sy="100000" kx="0" ky="0" algn="bl" rotWithShape="0" blurRad="4096766000000" dist="8193532000000" dir="9720000000000000">
              <a:srgbClr val="1B2A25">
                <a:alpha val="1100000000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01184" y="12984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млн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828032" y="1645920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C3E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подтверждённые данные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502920" y="2670048"/>
            <a:ext cx="5349240" cy="1554480"/>
          </a:xfrm>
          <a:prstGeom prst="roundRect">
            <a:avLst>
              <a:gd name="adj" fmla="val 11765"/>
            </a:avLst>
          </a:prstGeom>
          <a:solidFill>
            <a:srgbClr val="F4F6F5"/>
          </a:solidFill>
          <a:ln w="7620">
            <a:solidFill>
              <a:srgbClr val="F4F6F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" y="2980944"/>
            <a:ext cx="502920" cy="502920"/>
          </a:xfrm>
          <a:prstGeom prst="ellipse">
            <a:avLst/>
          </a:prstGeom>
          <a:solidFill>
            <a:srgbClr val="FFFFFF"/>
          </a:solidFill>
          <a:ln w="7620">
            <a:solidFill>
              <a:srgbClr val="E2E9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05409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▱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54480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A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Государство\nцифровизируется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54480" y="369417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уже переходит онлайн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336792" y="2670048"/>
            <a:ext cx="5349240" cy="1554480"/>
          </a:xfrm>
          <a:prstGeom prst="roundRect">
            <a:avLst>
              <a:gd name="adj" fmla="val 11765"/>
            </a:avLst>
          </a:prstGeom>
          <a:solidFill>
            <a:srgbClr val="E7F4EF"/>
          </a:solidFill>
          <a:ln w="7620">
            <a:solidFill>
              <a:srgbClr val="E7F4E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980944"/>
            <a:ext cx="502920" cy="502920"/>
          </a:xfrm>
          <a:prstGeom prst="ellipse">
            <a:avLst/>
          </a:prstGeom>
          <a:solidFill>
            <a:srgbClr val="FFFFFF"/>
          </a:solidFill>
          <a:ln w="7620">
            <a:solidFill>
              <a:srgbClr val="E2E9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305409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388352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A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делает подбор\nперсональным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88352" y="369417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теперь возможно в масштабе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502920" y="4572000"/>
            <a:ext cx="5349240" cy="1554480"/>
          </a:xfrm>
          <a:prstGeom prst="roundRect">
            <a:avLst>
              <a:gd name="adj" fmla="val 11765"/>
            </a:avLst>
          </a:prstGeom>
          <a:solidFill>
            <a:srgbClr val="F4F6F5"/>
          </a:solidFill>
          <a:ln w="7620">
            <a:solidFill>
              <a:srgbClr val="F4F6F5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" y="4882896"/>
            <a:ext cx="502920" cy="502920"/>
          </a:xfrm>
          <a:prstGeom prst="ellipse">
            <a:avLst/>
          </a:prstGeom>
          <a:solidFill>
            <a:srgbClr val="FFFFFF"/>
          </a:solidFill>
          <a:ln w="7620">
            <a:solidFill>
              <a:srgbClr val="E2E9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95604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554480" y="48280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A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Программ\nстановится больше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54480" y="5596128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сложность растёт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336792" y="4572000"/>
            <a:ext cx="5349240" cy="1554480"/>
          </a:xfrm>
          <a:prstGeom prst="roundRect">
            <a:avLst>
              <a:gd name="adj" fmla="val 11765"/>
            </a:avLst>
          </a:prstGeom>
          <a:solidFill>
            <a:srgbClr val="F4F6F5"/>
          </a:solidFill>
          <a:ln w="7620">
            <a:solidFill>
              <a:srgbClr val="F4F6F5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29400" y="4882896"/>
            <a:ext cx="502920" cy="502920"/>
          </a:xfrm>
          <a:prstGeom prst="ellipse">
            <a:avLst/>
          </a:prstGeom>
          <a:solidFill>
            <a:srgbClr val="FFFFFF"/>
          </a:solidFill>
          <a:ln w="7620">
            <a:solidFill>
              <a:srgbClr val="E2E9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495604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388352" y="48280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A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 хотят ответы\nмгновенно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388352" y="5596128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ожидание нового стандарта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09728" cy="10972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25328" y="645566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8B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05</a:t>
            </a:r>
            <a:endParaRPr lang="en-US" sz="750" dirty="0"/>
          </a:p>
        </p:txBody>
      </p:sp>
      <p:pic>
        <p:nvPicPr>
          <p:cNvPr id="5" name="Image 0" descr="/var/www/refund.esl.kz/docs/refund-pitch-deck/os-kazakhst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96128" y="310896"/>
            <a:ext cx="6309360" cy="6263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640080"/>
            <a:ext cx="5806440" cy="5285232"/>
          </a:xfrm>
          <a:prstGeom prst="roundRect">
            <a:avLst>
              <a:gd name="adj" fmla="val 1384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914400"/>
            <a:ext cx="512064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цифровая\nточка входа\nк государству.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12064" y="278892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Хотим, чтобы любое взаимодействие\nчеловека с государством начиналось с Refund.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" y="3867912"/>
            <a:ext cx="3977640" cy="0"/>
          </a:xfrm>
          <a:prstGeom prst="line">
            <a:avLst/>
          </a:prstGeom>
          <a:noFill/>
          <a:ln w="25400">
            <a:solidFill>
              <a:srgbClr val="0D7A5F"/>
            </a:solidFill>
            <a:prstDash val="solid"/>
            <a:tailEnd type="none"/>
          </a:ln>
        </p:spPr>
      </p:sp>
      <p:sp>
        <p:nvSpPr>
          <p:cNvPr id="10" name="Shape 7"/>
          <p:cNvSpPr/>
          <p:nvPr/>
        </p:nvSpPr>
        <p:spPr>
          <a:xfrm>
            <a:off x="521208" y="4169664"/>
            <a:ext cx="182880" cy="182880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1208" y="417423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60" dirty="0"/>
          </a:p>
        </p:txBody>
      </p:sp>
      <p:sp>
        <p:nvSpPr>
          <p:cNvPr id="12" name="Text 9"/>
          <p:cNvSpPr/>
          <p:nvPr/>
        </p:nvSpPr>
        <p:spPr>
          <a:xfrm>
            <a:off x="841248" y="416052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уже работает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21208" y="4572000"/>
            <a:ext cx="182880" cy="182880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1208" y="45765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60" dirty="0"/>
          </a:p>
        </p:txBody>
      </p:sp>
      <p:sp>
        <p:nvSpPr>
          <p:cNvPr id="15" name="Text 12"/>
          <p:cNvSpPr/>
          <p:nvPr/>
        </p:nvSpPr>
        <p:spPr>
          <a:xfrm>
            <a:off x="841248" y="456285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этап — масштабирование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21208" y="4974336"/>
            <a:ext cx="182880" cy="182880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1208" y="497890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60" dirty="0"/>
          </a:p>
        </p:txBody>
      </p:sp>
      <p:sp>
        <p:nvSpPr>
          <p:cNvPr id="18" name="Text 15"/>
          <p:cNvSpPr/>
          <p:nvPr/>
        </p:nvSpPr>
        <p:spPr>
          <a:xfrm>
            <a:off x="841248" y="496519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Партнёрская сеть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02920" y="5650992"/>
            <a:ext cx="128016" cy="128016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3232" y="55961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02920" y="596188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refund.esl.kz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050792" y="5248656"/>
            <a:ext cx="932688" cy="932688"/>
          </a:xfrm>
          <a:prstGeom prst="roundRect">
            <a:avLst>
              <a:gd name="adj" fmla="val 10784"/>
            </a:avLst>
          </a:prstGeom>
          <a:solidFill>
            <a:srgbClr val="F4F6F5"/>
          </a:solidFill>
          <a:ln w="7620">
            <a:solidFill>
              <a:srgbClr val="F4F6F5">
                <a:alpha val="0"/>
              </a:srgbClr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232" y="5340096"/>
            <a:ext cx="749808" cy="7498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Refund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Refund — Demo Day</dc:title>
  <dc:subject>Инвесторская презентация</dc:subject>
  <dc:creator>Refund</dc:creator>
  <cp:lastModifiedBy>Refund</cp:lastModifiedBy>
  <cp:revision>1</cp:revision>
  <dcterms:created xsi:type="dcterms:W3CDTF">2026-07-20T06:28:11Z</dcterms:created>
  <dcterms:modified xsi:type="dcterms:W3CDTF">2026-07-20T06:28:11Z</dcterms:modified>
</cp:coreProperties>
</file>